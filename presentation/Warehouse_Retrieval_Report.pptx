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A3439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A3439"/>
                </a:solidFill>
                <a:latin typeface="Arial"/>
              </a:rPr>
              <a:t>จำนวนครั้งที่ตรวจสอบ Stack (Search Steps) เทียบตามความลึก 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Algorithm A (First Available)</c:v>
                </c:pt>
              </c:strCache>
            </c:strRef>
          </c:tx>
          <c:spPr>
            <a:solidFill>
              <a:srgbClr val="E2830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d=1</c:v>
                </c:pt>
                <c:pt idx="1">
                  <c:v>d=3</c:v>
                </c:pt>
                <c:pt idx="2">
                  <c:v>d=5</c:v>
                </c:pt>
                <c:pt idx="3">
                  <c:v>d=7</c:v>
                </c:pt>
                <c:pt idx="4">
                  <c:v>d=9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9</c:v>
                </c:pt>
                <c:pt idx="2">
                  <c:v>15</c:v>
                </c:pt>
                <c:pt idx="3">
                  <c:v>21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6-4D35-B938-DD498C9317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Algorithm B (Best Fit)</c:v>
                </c:pt>
              </c:strCache>
            </c:strRef>
          </c:tx>
          <c:spPr>
            <a:solidFill>
              <a:srgbClr val="3F6B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d=1</c:v>
                </c:pt>
                <c:pt idx="1">
                  <c:v>d=3</c:v>
                </c:pt>
                <c:pt idx="2">
                  <c:v>d=5</c:v>
                </c:pt>
                <c:pt idx="3">
                  <c:v>d=7</c:v>
                </c:pt>
                <c:pt idx="4">
                  <c:v>d=9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18</c:v>
                </c:pt>
                <c:pt idx="2">
                  <c:v>30</c:v>
                </c:pt>
                <c:pt idx="3">
                  <c:v>42</c:v>
                </c:pt>
                <c:pt idx="4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46-4D35-B938-DD498C9317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5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6B7780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6B7780"/>
                    </a:solidFill>
                    <a:latin typeface="Arial"/>
                  </a:rPr>
                  <a:t>จำนวนครั้ง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39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623560"/>
            <a:ext cx="685800" cy="685800"/>
          </a:xfrm>
          <a:prstGeom prst="rect">
            <a:avLst/>
          </a:prstGeom>
          <a:solidFill>
            <a:srgbClr val="E2830E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5863590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61220" y="5623560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5056632"/>
            <a:ext cx="685800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5296662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61220" y="5056632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0" y="4489704"/>
            <a:ext cx="685800" cy="685800"/>
          </a:xfrm>
          <a:prstGeom prst="rect">
            <a:avLst/>
          </a:prstGeom>
          <a:solidFill>
            <a:srgbClr val="5C6B73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729734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61220" y="4489704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0" y="5623560"/>
            <a:ext cx="685800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0" y="5863590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29900" y="5623560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5056632"/>
            <a:ext cx="685800" cy="685800"/>
          </a:xfrm>
          <a:prstGeom prst="rect">
            <a:avLst/>
          </a:prstGeom>
          <a:solidFill>
            <a:srgbClr val="5C6B73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87000" y="5296662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29900" y="5056632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4489704"/>
            <a:ext cx="685800" cy="685800"/>
          </a:xfrm>
          <a:prstGeom prst="rect">
            <a:avLst/>
          </a:prstGeom>
          <a:solidFill>
            <a:srgbClr val="8A959B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4729734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29900" y="4489704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87000" y="3922776"/>
            <a:ext cx="685800" cy="685800"/>
          </a:xfrm>
          <a:prstGeom prst="rect">
            <a:avLst/>
          </a:prstGeom>
          <a:solidFill>
            <a:srgbClr val="E2830E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87000" y="4162806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29900" y="3922776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5623560"/>
            <a:ext cx="685800" cy="685800"/>
          </a:xfrm>
          <a:prstGeom prst="rect">
            <a:avLst/>
          </a:prstGeom>
          <a:solidFill>
            <a:srgbClr val="5C6B73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55680" y="5863590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98580" y="5623560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55680" y="5056632"/>
            <a:ext cx="685800" cy="685800"/>
          </a:xfrm>
          <a:prstGeom prst="rect">
            <a:avLst/>
          </a:prstGeom>
          <a:solidFill>
            <a:srgbClr val="8A959B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55680" y="5296662"/>
            <a:ext cx="685800" cy="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98580" y="5056632"/>
            <a:ext cx="0" cy="240030"/>
          </a:xfrm>
          <a:prstGeom prst="line">
            <a:avLst/>
          </a:prstGeom>
          <a:noFill/>
          <a:ln w="12700">
            <a:solidFill>
              <a:srgbClr val="2A343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1371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กลุ่มที่ 6  ·  รายงานอัลกอริทึม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23317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Retrieval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548640" y="32461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Multi-Stack </a:t>
            </a: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และ </a:t>
            </a: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Selection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54864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การออกแบบและวิเคราะห์อัลกอริทึมสำหรับหยิบกล่องเป้าหมายออกจากคลังสินค้าที่จัดเก็บแบบ Stack หลายกอง โดยเปรียบเทียบกลยุทธ์การเลือก Stack ปลายทางสองรูปแบบ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5120640" cy="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349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 · การออกแบบอัลกอริทึม   |   Algorithm A: First Available Stack   |   Algorithm B: Best Fit Stack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บทนำและความสำคัญ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38444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ที่มาและความสำคัญ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17627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คลังสินค้าสมัยใหม่จัดเก็บกล่องสินค้าจำนวนมากในพื้นที่จำกัด จึงนิยมวางซ้อนกันเป็น Stack หลายกอง การหยิบกล่องที่ถูกฝังอยู่ด้านล่างจึงมีความซับซ้อนและต้องมีวิธีจัดการที่มีประสิทธิภาพ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3009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วัตถุประสงค์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65760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ออกแบบและเปรียบเทียบอัลกอริทึมสำหรับย้ายกล่องที่กีดขวางไปยัง Stack อื่น เพื่อนำกล่องเป้าหมายออกมาได้อย่างถูกต้องและมีประสิทธิภาพ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55464"/>
            <a:ext cx="457200" cy="457200"/>
          </a:xfrm>
          <a:prstGeom prst="ellipse">
            <a:avLst/>
          </a:prstGeom>
          <a:solidFill>
            <a:srgbClr val="38444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7823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ขอบเขตงาน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51389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ศึกษาและเปรียบเทียบกลยุทธ์การเลือก Stack ปลายทาง 2 รูปแบบ คือ First Available Stack และ Best Fit Stack ภายใต้เงื่อนไขของปัญหาที่กำหนด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577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คลังสินค้าวางกล่องซ้อนกันเป็นหลายกอง กล่องที่อยู่ด้านบนสามารถนำออกได้ทันที แต่หากกล่องเป้าหมายอยู่ด้านล่าง ต้องย้ายกล่องที่ขวางอยู่ไปยัง Stack อื่นก่อนจึงจะหยิบกล่องเป้าหมายออกมาได้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ขอบเขตงานหลัก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3F4F5"/>
          </a:solidFill>
          <a:ln w="15875">
            <a:solidFill>
              <a:srgbClr val="E283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729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ย้ายได้เฉพาะกล่องด้านบนสุดของแต่ละ Stack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3F4F5"/>
          </a:solidFill>
          <a:ln w="15875">
            <a:solidFill>
              <a:srgbClr val="E283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6301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Stack มีความจุจำกัด (Capacity)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3F4F5"/>
          </a:solidFill>
          <a:ln w="15875">
            <a:solidFill>
              <a:srgbClr val="E283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148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0873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ปลายทางต้องมีพื้นที่ว่างเพียงพอ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3F4F5"/>
          </a:solidFill>
          <a:ln w="15875">
            <a:solidFill>
              <a:srgbClr val="E283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5445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หลังนำกล่องเป้าหมายออก ต้องสามารถนำกล่องที่ย้ายกลับคืนได้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3F4F5"/>
          </a:solidFill>
          <a:ln w="15875">
            <a:solidFill>
              <a:srgbClr val="E283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29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50017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ไม่บังคับเงื่อนไขน้ำหนักกล่อง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ข้อมูลของกล่องแต่ละใบ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8444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989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 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57400" y="5989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8444B"/>
          </a:solidFill>
          <a:ln/>
        </p:spPr>
      </p:sp>
      <p:sp>
        <p:nvSpPr>
          <p:cNvPr id="26" name="Text 24"/>
          <p:cNvSpPr/>
          <p:nvPr/>
        </p:nvSpPr>
        <p:spPr>
          <a:xfrm>
            <a:off x="2057400" y="5989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66160" y="5989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8444B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5989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Arrival Time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5989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8444B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5989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92240" y="155448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3F4F5"/>
          </a:solidFill>
          <a:ln w="12700">
            <a:solidFill>
              <a:srgbClr val="E2E5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ภาพสถานะ Stack (ตัวอย่าง)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12280" y="5943600"/>
            <a:ext cx="100584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5486400"/>
            <a:ext cx="914400" cy="402336"/>
          </a:xfrm>
          <a:prstGeom prst="rect">
            <a:avLst/>
          </a:prstGeom>
          <a:solidFill>
            <a:srgbClr val="5C6B73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54864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5029200"/>
            <a:ext cx="914400" cy="402336"/>
          </a:xfrm>
          <a:prstGeom prst="rect">
            <a:avLst/>
          </a:prstGeom>
          <a:solidFill>
            <a:srgbClr val="8A959B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50292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20840" y="6016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55280" y="5943600"/>
            <a:ext cx="100584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5486400"/>
            <a:ext cx="914400" cy="402336"/>
          </a:xfrm>
          <a:prstGeom prst="rect">
            <a:avLst/>
          </a:prstGeom>
          <a:solidFill>
            <a:srgbClr val="5C6B73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01000" y="54864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01000" y="5029200"/>
            <a:ext cx="914400" cy="402336"/>
          </a:xfrm>
          <a:prstGeom prst="rect">
            <a:avLst/>
          </a:prstGeom>
          <a:solidFill>
            <a:srgbClr val="8A959B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1000" y="50292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01000" y="4572000"/>
            <a:ext cx="914400" cy="402336"/>
          </a:xfrm>
          <a:prstGeom prst="rect">
            <a:avLst/>
          </a:prstGeom>
          <a:solidFill>
            <a:srgbClr val="5C6B73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45720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01000" y="4114800"/>
            <a:ext cx="914400" cy="402336"/>
          </a:xfrm>
          <a:prstGeom prst="rect">
            <a:avLst/>
          </a:prstGeom>
          <a:solidFill>
            <a:srgbClr val="E2830E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41148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863840" y="6016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098280" y="5943600"/>
            <a:ext cx="100584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00" y="5486400"/>
            <a:ext cx="914400" cy="402336"/>
          </a:xfrm>
          <a:prstGeom prst="rect">
            <a:avLst/>
          </a:prstGeom>
          <a:solidFill>
            <a:srgbClr val="5C6B73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0" y="54864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06840" y="6016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41280" y="5943600"/>
            <a:ext cx="100584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49840" y="6016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66560" y="6309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กล่องเป้าหมาย ต้องย้าย B3 ออกก่อนจึงจะหยิบได้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Input, Output และ Constraints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3F4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3F6B8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29968"/>
            <a:ext cx="3611880" cy="301752"/>
          </a:xfrm>
          <a:prstGeom prst="rect">
            <a:avLst/>
          </a:prstGeom>
          <a:solidFill>
            <a:srgbClr val="3F6B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2606040"/>
            <a:ext cx="30998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 Stack (N) และความจุต่อ Stack (C)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สถานะกล่องเริ่มต้นในแต่ละ Stack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ข้อมูลกล่อง: Box ID, Category,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Time, Priority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ID ของกล่องเป้าหมายที่ต้องหยิบออก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3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73736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3E8E5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029968"/>
            <a:ext cx="3611880" cy="301752"/>
          </a:xfrm>
          <a:prstGeom prst="rect">
            <a:avLst/>
          </a:prstGeom>
          <a:solidFill>
            <a:srgbClr val="3E8E57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7373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53712" y="2606040"/>
            <a:ext cx="30998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ลำดับการย้ายกล่อง (Move Sequence)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จำนวนครั้งที่ย้ายกล่องทั้งหมด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ตำแหน่งสุดท้ายของกล่องเป้าหมาย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สถานะผลลัพธ์: สำเร็จ / ไม่สำเร็จ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 Stack ทั้งหมดหลังดำเนินการ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3F4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73736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E2830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2029968"/>
            <a:ext cx="3611880" cy="301752"/>
          </a:xfrm>
          <a:prstGeom prst="rect">
            <a:avLst/>
          </a:prstGeom>
          <a:solidFill>
            <a:srgbClr val="E2830E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7373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4192" y="2606040"/>
            <a:ext cx="30998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ย้ายได้เฉพาะกล่องบนสุดของ Stack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Stack มีความจุจำกัด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ปลายทางต้องมีพื้นที่ว่าง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ต้องนำกล่องที่ย้ายกลับคืนได้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ไม่มีเงื่อนไขเรื่องน้ำหนักกล่อง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 — First Available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Stack ปลายทางเป็น Stack แรกที่พบว่ายังมีพื้นที่ว่าง โดยไล่ตรวจสอบตามลำดับดัชนี (index) โดยไม่คำนึงว่า Stack นั้นจะเหลือพื้นที่มากหรือน้อยเพียงใด — เน้นความเร็วในการตัดสินใจ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2A343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834640"/>
            <a:ext cx="5394960" cy="292608"/>
          </a:xfrm>
          <a:prstGeom prst="rect">
            <a:avLst/>
          </a:prstGeom>
          <a:solidFill>
            <a:srgbClr val="E2830E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3246120"/>
            <a:ext cx="49560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SelectDestination_A(stacks, source):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0 to N-1: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!= source AND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stacks[i].size &lt; capacity: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        // Stack แรกที่ว่าง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NOT_FOUND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3492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3F4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486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ข้อดี: </a:t>
            </a: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ค้นหาไว โดยเฉลี่ยตรวจสอบเพียง N/2 ครั้ง
</a:t>
            </a:r>
            <a:r>
              <a:rPr lang="en-US" sz="12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ข้อเสีย: </a:t>
            </a: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พื้นที่กระจายไม่สม่ำเสมอ อาจเหลือ Stack ว่างไม่คุ้มค่า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3F4F5"/>
          </a:solidFill>
          <a:ln w="12700">
            <a:solidFill>
              <a:srgbClr val="E2E5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เลือก Stack ปลายทาง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468880"/>
            <a:ext cx="9144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6B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468880"/>
            <a:ext cx="914400" cy="3291840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5833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61447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เต็ม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01000" y="2468880"/>
            <a:ext cx="9144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6B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4443984"/>
            <a:ext cx="914400" cy="131673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5303520"/>
            <a:ext cx="914400" cy="457200"/>
          </a:xfrm>
          <a:prstGeom prst="rect">
            <a:avLst/>
          </a:prstGeom>
          <a:solidFill>
            <a:srgbClr val="E2830E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5303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01000" y="5833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18120" y="61447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#1 → ว่าง เลือกเลย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0" y="2468880"/>
            <a:ext cx="9144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6B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468880"/>
            <a:ext cx="914400" cy="3291840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5833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0" y="61447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เต็ม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287000" y="2468880"/>
            <a:ext cx="9144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6B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5266944"/>
            <a:ext cx="914400" cy="493776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0" y="5833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04120" y="61447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ไม่ถูกตรวจสอบ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B — Best Fit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Stack ที่ยังไม่เต็มทั้งหมด แล้วเลือก Stack ที่เหลือพื้นที่ว่างน้อยที่สุดหลังจากวางกล่องลงไป (fit แน่นที่สุด) — เน้นการใช้พื้นที่คลังสินค้าอย่างคุ้มค่า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2A343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834640"/>
            <a:ext cx="5394960" cy="292608"/>
          </a:xfrm>
          <a:prstGeom prst="rect">
            <a:avLst/>
          </a:prstGeom>
          <a:solidFill>
            <a:srgbClr val="3F6B8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3246120"/>
            <a:ext cx="49560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SelectDestination_B(stacks, source):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best = NOT_FOUND; bestRemain = ∞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0 to N-1: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!= source AND stacks[i].size &lt; capacity: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remain = capacity - stacks[i].size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remain &lt; bestRemain: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bestRemain = remain; best = i</a:t>
            </a:r>
            <a:endParaRPr lang="en-US" sz="11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3492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3F4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486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ข้อดี: </a:t>
            </a: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ใช้พื้นที่คุ้มค่า ลดโอกาส Stack เต็มจนหาที่ว่างไม่ได้
</a:t>
            </a:r>
            <a:r>
              <a:rPr lang="en-US" sz="1200" b="1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ข้อเสีย: </a:t>
            </a:r>
            <a:r>
              <a:rPr lang="en-US" sz="12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ต้องตรวจสอบทุก Stack เสมอ จึงช้ากว่าในค่าเฉลี่ย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3F4F5"/>
          </a:solidFill>
          <a:ln w="12700">
            <a:solidFill>
              <a:srgbClr val="E2E5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เลือก Stack ปลายทาง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468880"/>
            <a:ext cx="9144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6B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468880"/>
            <a:ext cx="914400" cy="3291840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5833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61447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เต็ม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01000" y="2468880"/>
            <a:ext cx="9144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6B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4443984"/>
            <a:ext cx="914400" cy="1316736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5833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61447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เหลือว่างมาก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0" y="2468880"/>
            <a:ext cx="9144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6B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2962656"/>
            <a:ext cx="914400" cy="27980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2962656"/>
            <a:ext cx="914400" cy="365760"/>
          </a:xfrm>
          <a:prstGeom prst="rect">
            <a:avLst/>
          </a:prstGeom>
          <a:solidFill>
            <a:srgbClr val="E2830E"/>
          </a:solidFill>
          <a:ln w="12700">
            <a:solidFill>
              <a:srgbClr val="2A34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9626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0" y="5833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0" y="61447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เหลือว่างน้อยสุด → เลือก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287000" y="2468880"/>
            <a:ext cx="91440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6B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5266944"/>
            <a:ext cx="914400" cy="493776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0" y="5833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04120" y="61447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เหลือว่างมาก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วิธีทำแบบ Step-by-step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ค้นหา Stack ต้นทาง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67919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ค้นหาว่ากล่องเป้าหมาย (Target Box ID) อยู่ใน Stack ใด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87368" y="25831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ตรวจสอบตำแหน่งบนสุด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26280" y="267919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หากกล่องเป้าหมายอยู่บนสุดอยู่แล้ว ให้หยิบออกได้ทันที (จบการทำงาน)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27848" y="25831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366760" y="2011680"/>
            <a:ext cx="502920" cy="502920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0684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เลือก Stack ปลายทาง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66760" y="267919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Algorithm A หรือ B เพื่อเลือก Stack ที่จะย้ายกล่องบนสุดไปพักไว้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25880" y="42793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ย้ายกล่องที่กีดขวาง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5800" y="49194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ย้ายกล่องบนสุดไปยัง Stack ปลายทาง แล้วบันทึกการย้าย (Move Log)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87368" y="48234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97680" y="4023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26280" y="4251960"/>
            <a:ext cx="502920" cy="502920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66360" y="42793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ทำซ้ำจนถึงเป้าหมาย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26280" y="49194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วนขั้นตอน 2-4 จนกล่องเป้าหมายอยู่บนสุด แล้วหยิบออก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27848" y="48234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8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138160" y="4023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4F5"/>
          </a:solidFill>
          <a:ln/>
        </p:spPr>
      </p:sp>
      <p:sp>
        <p:nvSpPr>
          <p:cNvPr id="35" name="Shape 33"/>
          <p:cNvSpPr/>
          <p:nvPr/>
        </p:nvSpPr>
        <p:spPr>
          <a:xfrm>
            <a:off x="8366760" y="4251960"/>
            <a:ext cx="502920" cy="502920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06840" y="42793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คืนกล่องกลับ (Restore)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366760" y="491947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นำกล่องที่ถูกย้ายพักไว้ กลับคืน Stack เดิมตามลำดับย้อนกลับของ Move Log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การอธิบายความถูกต้อง (Correctness Argument)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3F4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39112"/>
            <a:ext cx="420624" cy="420624"/>
          </a:xfrm>
          <a:prstGeom prst="ellipse">
            <a:avLst/>
          </a:prstGeom>
          <a:solidFill>
            <a:srgbClr val="3F6B8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39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198424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Precondition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2651760"/>
            <a:ext cx="48554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กล่องเป้าหมายต้องมีอยู่จริงในคลัง และผลรวมพื้นที่ว่างของ Stack อื่นต้องเพียงพอสำหรับกล่องที่ต้องย้ายทั้งหมด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3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039112"/>
            <a:ext cx="420624" cy="420624"/>
          </a:xfrm>
          <a:prstGeom prst="ellipse">
            <a:avLst/>
          </a:prstGeom>
          <a:solidFill>
            <a:srgbClr val="3E8E57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39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3448" y="198424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8E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64808" y="2651760"/>
            <a:ext cx="48554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ตลอดการทำงาน กล่องเป้าหมายจะยังคงอยู่ใน Stack ต้นทางเสมอ และจะไม่ถูกย้ายออกจนกว่าจะขึ้นมาอยู่บนสุด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3F4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462272"/>
            <a:ext cx="420624" cy="420624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440740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83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Postcondition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" y="5074920"/>
            <a:ext cx="48554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กล่องเป้าหมายถูกนำออกสำเร็จ กล่องที่ถูกย้ายทุกใบอยู่ใน Stack ที่ถูกต้องตามความจุ และ Move Log สมบูรณ์พร้อมย้อนกลับได้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3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462272"/>
            <a:ext cx="420624" cy="420624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3448" y="440740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2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64808" y="5074920"/>
            <a:ext cx="48554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จำนวนกล่องที่กีดขวาง (depth) ลดลง 1 ทุกรอบการวนซ้ำ และมีค่าจำกัด จึง loop สิ้นสุดเสมอภายใน d รอบ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Big-O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จำนวน Stack, C = ความจุต่อ Stack, d = ความลึกของกล่องเป้าหมาย (จำนวนกล่องที่กีดขวาง)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377440" cy="548640"/>
          </a:xfrm>
          <a:prstGeom prst="rect">
            <a:avLst/>
          </a:prstGeom>
          <a:solidFill>
            <a:srgbClr val="2A3439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103120"/>
            <a:ext cx="2651760" cy="548640"/>
          </a:xfrm>
          <a:prstGeom prst="rect">
            <a:avLst/>
          </a:prstGeom>
          <a:solidFill>
            <a:srgbClr val="2A3439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จำนวนการย้าย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103120"/>
            <a:ext cx="3200400" cy="548640"/>
          </a:xfrm>
          <a:prstGeom prst="rect">
            <a:avLst/>
          </a:prstGeom>
          <a:solidFill>
            <a:srgbClr val="2A3439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 (ค้นหาปลายทาง)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78240" y="2103120"/>
            <a:ext cx="3200400" cy="548640"/>
          </a:xfrm>
          <a:prstGeom prst="rect">
            <a:avLst/>
          </a:prstGeom>
          <a:solidFill>
            <a:srgbClr val="2A3439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 (ค้นหาปลายทาง)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51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Case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26080" y="2651760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(อยู่บนสุด)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77840" y="265176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78240" y="265176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2377440" cy="548640"/>
          </a:xfrm>
          <a:prstGeom prst="rect">
            <a:avLst/>
          </a:prstGeom>
          <a:solidFill>
            <a:srgbClr val="F3F4F5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Case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26080" y="3200400"/>
            <a:ext cx="2651760" cy="548640"/>
          </a:xfrm>
          <a:prstGeom prst="rect">
            <a:avLst/>
          </a:prstGeom>
          <a:solidFill>
            <a:srgbClr val="F3F4F5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ครั้ง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577840" y="3200400"/>
            <a:ext cx="3200400" cy="548640"/>
          </a:xfrm>
          <a:prstGeom prst="rect">
            <a:avLst/>
          </a:prstGeom>
          <a:solidFill>
            <a:srgbClr val="F3F4F5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O(d · N/2)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78240" y="3200400"/>
            <a:ext cx="3200400" cy="548640"/>
          </a:xfrm>
          <a:prstGeom prst="rect">
            <a:avLst/>
          </a:prstGeom>
          <a:solidFill>
            <a:srgbClr val="F3F4F5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O(d · N)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Worst Case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926080" y="3749040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749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 - 1 ครั้ง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577840" y="374904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749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O(d · N)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778240" y="374904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3749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O(d · N)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4617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3F4F5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O(d · N)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77240" y="533095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7724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ทั้งสองอัลกอริทึม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89120" y="4617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3F4F5"/>
          </a:solidFill>
          <a:ln/>
        </p:spPr>
      </p:sp>
      <p:sp>
        <p:nvSpPr>
          <p:cNvPr id="43" name="Text 41"/>
          <p:cNvSpPr/>
          <p:nvPr/>
        </p:nvSpPr>
        <p:spPr>
          <a:xfrm>
            <a:off x="461772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· C)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617720" y="533095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61772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พื้นที่เก็บสถานะกล่องทุก Stack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9600" y="4617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3F4F5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8E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8458200" y="533095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การค้นหา Stack ต้นทาง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45820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เมื่อใช้ HashMap เก็บตำแหน่งกล่อง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 และ Java Implementation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33172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44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331720" cy="329184"/>
          </a:xfrm>
          <a:prstGeom prst="rect">
            <a:avLst/>
          </a:prstGeom>
          <a:solidFill>
            <a:srgbClr val="38444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20824"/>
            <a:ext cx="2331720" cy="0"/>
          </a:xfrm>
          <a:prstGeom prst="line">
            <a:avLst/>
          </a:prstGeom>
          <a:noFill/>
          <a:ln w="12700">
            <a:solidFill>
              <a:srgbClr val="3844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75688"/>
            <a:ext cx="211226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boxId: String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category: String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arrivalTime: int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priority: int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3240" y="1691640"/>
            <a:ext cx="260604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44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691640"/>
            <a:ext cx="2606040" cy="329184"/>
          </a:xfrm>
          <a:prstGeom prst="rect">
            <a:avLst/>
          </a:prstGeom>
          <a:solidFill>
            <a:srgbClr val="38444B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16916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WarehouseStack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63240" y="2020824"/>
            <a:ext cx="2606040" cy="0"/>
          </a:xfrm>
          <a:prstGeom prst="line">
            <a:avLst/>
          </a:prstGeom>
          <a:noFill/>
          <a:ln w="12700">
            <a:solidFill>
              <a:srgbClr val="3844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2075688"/>
            <a:ext cx="238658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id: int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capacity: int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items: Deque&lt;Box&gt;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push()/pop()/isFull()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691640"/>
            <a:ext cx="26974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3844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719072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&lt;&lt;interface&gt;&gt;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892808"/>
            <a:ext cx="2697480" cy="329184"/>
          </a:xfrm>
          <a:prstGeom prst="rect">
            <a:avLst/>
          </a:prstGeom>
          <a:solidFill>
            <a:srgbClr val="38444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89280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DestinationStrategy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2221992"/>
            <a:ext cx="2697480" cy="0"/>
          </a:xfrm>
          <a:prstGeom prst="line">
            <a:avLst/>
          </a:prstGeom>
          <a:noFill/>
          <a:ln w="12700">
            <a:solidFill>
              <a:srgbClr val="3844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2276856"/>
            <a:ext cx="24780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select(stacks, src): int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24612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3844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29000"/>
            <a:ext cx="3246120" cy="329184"/>
          </a:xfrm>
          <a:prstGeom prst="rect">
            <a:avLst/>
          </a:prstGeom>
          <a:solidFill>
            <a:srgbClr val="38444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2900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758184"/>
            <a:ext cx="3246120" cy="0"/>
          </a:xfrm>
          <a:prstGeom prst="line">
            <a:avLst/>
          </a:prstGeom>
          <a:noFill/>
          <a:ln w="12700">
            <a:solidFill>
              <a:srgbClr val="3844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813048"/>
            <a:ext cx="302666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stacks: List&lt;WarehouseStack&gt;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index: Map&lt;String,Integer&gt;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retrieve(id, strategy)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findStack(id): int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3749040"/>
            <a:ext cx="26974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44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3749040"/>
            <a:ext cx="2697480" cy="329184"/>
          </a:xfrm>
          <a:prstGeom prst="rect">
            <a:avLst/>
          </a:prstGeom>
          <a:solidFill>
            <a:srgbClr val="38444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37490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FirstAvailableStrategy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43600" y="4078224"/>
            <a:ext cx="2697480" cy="0"/>
          </a:xfrm>
          <a:prstGeom prst="line">
            <a:avLst/>
          </a:prstGeom>
          <a:noFill/>
          <a:ln w="12700">
            <a:solidFill>
              <a:srgbClr val="3844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4133088"/>
            <a:ext cx="247802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DestinationStrategy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4892040"/>
            <a:ext cx="26974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44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4892040"/>
            <a:ext cx="2697480" cy="329184"/>
          </a:xfrm>
          <a:prstGeom prst="rect">
            <a:avLst/>
          </a:prstGeom>
          <a:solidFill>
            <a:srgbClr val="38444B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48920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BestFitStrategy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943600" y="5221224"/>
            <a:ext cx="2697480" cy="0"/>
          </a:xfrm>
          <a:prstGeom prst="line">
            <a:avLst/>
          </a:prstGeom>
          <a:noFill/>
          <a:ln w="12700">
            <a:solidFill>
              <a:srgbClr val="3844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5276088"/>
            <a:ext cx="247802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A3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DestinationStrategy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18488" y="3108960"/>
            <a:ext cx="0" cy="32004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0" y="3108960"/>
            <a:ext cx="438912" cy="32004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03320" y="4183380"/>
            <a:ext cx="2240280" cy="45720"/>
          </a:xfrm>
          <a:prstGeom prst="line">
            <a:avLst/>
          </a:prstGeom>
          <a:noFill/>
          <a:ln w="15875">
            <a:solidFill>
              <a:srgbClr val="5C6B73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7296912" y="3429000"/>
            <a:ext cx="0" cy="32004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96912" y="4709160"/>
            <a:ext cx="0" cy="1828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989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เส้นประ = dependency, เส้นทึบ = association/composition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823960" y="1691640"/>
            <a:ext cx="2880360" cy="4434840"/>
          </a:xfrm>
          <a:prstGeom prst="roundRect">
            <a:avLst>
              <a:gd name="adj" fmla="val 2540"/>
            </a:avLst>
          </a:prstGeom>
          <a:solidFill>
            <a:srgbClr val="2A3439"/>
          </a:solidFill>
          <a:ln/>
        </p:spPr>
      </p:sp>
      <p:sp>
        <p:nvSpPr>
          <p:cNvPr id="43" name="Shape 41"/>
          <p:cNvSpPr/>
          <p:nvPr/>
        </p:nvSpPr>
        <p:spPr>
          <a:xfrm>
            <a:off x="8823960" y="1691640"/>
            <a:ext cx="2880360" cy="292608"/>
          </a:xfrm>
          <a:prstGeom prst="rect">
            <a:avLst/>
          </a:prstGeom>
          <a:solidFill>
            <a:srgbClr val="3F6B8A"/>
          </a:solidFill>
          <a:ln/>
        </p:spPr>
      </p:sp>
      <p:sp>
        <p:nvSpPr>
          <p:cNvPr id="44" name="Text 42"/>
          <p:cNvSpPr/>
          <p:nvPr/>
        </p:nvSpPr>
        <p:spPr>
          <a:xfrm>
            <a:off x="9043416" y="2103120"/>
            <a:ext cx="244144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 retrieve(String id,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 s) {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src=findStack(id);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(src==-1)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throw new NotFound();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 (!top(src)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.equals(id)) {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dst=s.select(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stacks, src);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(dst==-1)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NoSpace();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 b = pop(src);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push(dst, b);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log.add(new Move(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b, src, dst));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pop(src);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7E9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บังคับ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0789920" cy="457200"/>
          </a:xfrm>
          <a:prstGeom prst="rect">
            <a:avLst/>
          </a:prstGeom>
          <a:solidFill>
            <a:srgbClr val="2A343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เงื่อนไขทดสอบ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พฤติกรรมที่คาดหวัง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0789920" cy="530352"/>
          </a:xfrm>
          <a:prstGeom prst="rect">
            <a:avLst/>
          </a:prstGeom>
          <a:solidFill>
            <a:srgbClr val="F3F4F5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กล่องเป้าหมายอยู่ด้านบน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14884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หยิบออกได้ทันที (0 การย้าย)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79192"/>
            <a:ext cx="10789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7919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679192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กล่องเป้าหมายอยู่ตรงกลาง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679192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ย้ายกล่องด้านบนออกก่อน แล้วจึงหยิบได้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09544"/>
            <a:ext cx="10789920" cy="530352"/>
          </a:xfrm>
          <a:prstGeom prst="rect">
            <a:avLst/>
          </a:prstGeom>
          <a:solidFill>
            <a:srgbClr val="F3F4F5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954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3209544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กล่องเป้าหมายอยู่ด้านล่างสุด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209544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ย้ายกล่องทั้งหมดด้านบนออกก่อน (จำนวนย้ายมากสุด)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39896"/>
            <a:ext cx="10789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39896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373989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Stack ว่างอยู่ในระบบ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739896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ว่างถูกพิจารณาเป็นปลายทางที่ใช้ได้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70248"/>
            <a:ext cx="10789920" cy="530352"/>
          </a:xfrm>
          <a:prstGeom prst="rect">
            <a:avLst/>
          </a:prstGeom>
          <a:solidFill>
            <a:srgbClr val="F3F4F5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7024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4270248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ปลายทางบางกองเต็ม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27024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อัลกอริทึมข้าม Stack ที่เต็มไปยังกองถัดไป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10789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0060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4800600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ไม่มีพื้นที่เพียงพอในระบบ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80060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คืนค่าล้มเหลว (Fail) พร้อมเหตุผลที่ชัดเจน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330952"/>
            <a:ext cx="10789920" cy="530352"/>
          </a:xfrm>
          <a:prstGeom prst="rect">
            <a:avLst/>
          </a:prstGeom>
          <a:solidFill>
            <a:srgbClr val="F3F4F5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33095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54480" y="5330952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ไม่พบกล่องเป้าหมายในคลัง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5330952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คืนค่า Not Found โดยไม่ทำการย้ายใด ๆ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861304"/>
            <a:ext cx="10789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86130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83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54480" y="5861304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Stack ปลายทางให้เลือกหลายกอง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5861304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เปรียบเทียบผลลัพธ์ระหว่าง Algorithm A และ B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ตัวอย่างผลจำลอง (Simulation) — N = 6 Stack, Capacity = 10 ต่อ Stack, วัดจำนวนครั้งที่ตรวจสอบ Stack เพื่อเลือกปลายทาง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03120"/>
          <a:ext cx="68580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2103120"/>
            <a:ext cx="4069080" cy="3977640"/>
          </a:xfrm>
          <a:prstGeom prst="roundRect">
            <a:avLst>
              <a:gd name="adj" fmla="val 2299"/>
            </a:avLst>
          </a:prstGeom>
          <a:solidFill>
            <a:srgbClr val="F3F4F5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3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ข้อสังเกตจากผลจำลอง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09560" y="2798064"/>
            <a:ext cx="109728" cy="109728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10" name="Text 7"/>
          <p:cNvSpPr/>
          <p:nvPr/>
        </p:nvSpPr>
        <p:spPr>
          <a:xfrm>
            <a:off x="8138160" y="268833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จำนวนการ ย้ายกล่อง เท่ากันทั้งสองอัลกอริทึม (= d) เพราะขึ้นกับความลึกของกล่องเป้าหมายเท่านั้น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09560" y="3639312"/>
            <a:ext cx="109728" cy="109728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3529584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 ใช้จำนวนครั้งตรวจสอบน้อยกว่าโดยเฉลี่ย เพราะหยุดค้นหาทันทีที่พบ Stack ว่างแรก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09560" y="4480560"/>
            <a:ext cx="109728" cy="109728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4370832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 ตรวจสอบทุก Stack เสมอ จึงใช้เวลาค้นหามากกว่า แต่ได้การใช้พื้นที่ที่คุ้มค่ากว่า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09560" y="5321808"/>
            <a:ext cx="109728" cy="109728"/>
          </a:xfrm>
          <a:prstGeom prst="ellipse">
            <a:avLst/>
          </a:prstGeom>
          <a:solidFill>
            <a:srgbClr val="E2830E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52120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A3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ยิ่ง d มาก ความต่างของจำนวนครั้งตรวจสอบยิ่งชัดเจนขึ้นตามสัดส่วนเชิงเส้น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283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สรุปและอภิปรายผล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3844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424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วิธีที่เหมาะสมกว่า / เหตุผลในการเลือก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C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หากเน้นความเร็ว และพื้นที่คลังยังไม่ตึงตัว → เลือก Algorithm A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C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หากเน้นการใช้พื้นที่คุ้มค่า และใกล้เต็มความจุ → เลือก Algorithm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38444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8424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ข้อจำกัดของงาน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532888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C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พิจารณาการหยิบทีละกล่อง ยังไม่รองรับหลายคำขอพร้อมกัน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C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ยังไม่นำเงื่อนไขน้ำหนักหรือลำดับความสำคัญมาใช้เลือก Stack ปลายทาง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38444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902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แนวทางพัฒนาต่อ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138928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C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ผสานกลยุทธ์แบบ Hybrid ที่ปรับตามระดับความเต็มของคลัง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C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เพิ่มการจัดลำดับตาม Priority และรองรับการหยิบหลายกล่องพร้อมกัน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438912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3844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5902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สิ่งที่ได้เรียนรู้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5138928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C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การแลกเปลี่ยนระหว่างความเร็วในการค้นหา กับประสิทธิภาพการใช้พื้นที่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C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การพิสูจน์ความถูกต้องด้วย Invariant และการวิเคราะห์ Big-O อย่างเป็นระบบ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1757</Words>
  <Application>Microsoft Office PowerPoint</Application>
  <PresentationFormat>แบบจอกว้าง</PresentationFormat>
  <Paragraphs>297</Paragraphs>
  <Slides>13</Slides>
  <Notes>13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นาย กษิดิศ ชุมแวงวาปี</cp:lastModifiedBy>
  <cp:revision>1</cp:revision>
  <dcterms:created xsi:type="dcterms:W3CDTF">2026-08-18T05:30:27Z</dcterms:created>
  <dcterms:modified xsi:type="dcterms:W3CDTF">2026-08-18T09:44:48Z</dcterms:modified>
</cp:coreProperties>
</file>